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anva Sans" panose="020B0503030501040103" pitchFamily="3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806030504020204" pitchFamily="34" charset="0"/>
      <p:regular r:id="rId23"/>
      <p:bold r:id="rId24"/>
    </p:embeddedFont>
    <p:embeddedFont>
      <p:font typeface="Open Sauce" pitchFamily="2" charset="77"/>
      <p:regular r:id="rId25"/>
    </p:embeddedFont>
    <p:embeddedFont>
      <p:font typeface="Poppins" pitchFamily="2" charset="77"/>
      <p:regular r:id="rId26"/>
    </p:embeddedFont>
    <p:embeddedFont>
      <p:font typeface="Poppins Bold" pitchFamily="2" charset="7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9" autoAdjust="0"/>
    <p:restoredTop sz="94613" autoAdjust="0"/>
  </p:normalViewPr>
  <p:slideViewPr>
    <p:cSldViewPr>
      <p:cViewPr varScale="1">
        <p:scale>
          <a:sx n="67" d="100"/>
          <a:sy n="67" d="100"/>
        </p:scale>
        <p:origin x="216" y="2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2819116" y="3046166"/>
            <a:ext cx="4434749" cy="5075536"/>
          </a:xfrm>
          <a:custGeom>
            <a:avLst/>
            <a:gdLst/>
            <a:ahLst/>
            <a:cxnLst/>
            <a:rect l="l" t="t" r="r" b="b"/>
            <a:pathLst>
              <a:path w="4434749" h="5075536">
                <a:moveTo>
                  <a:pt x="0" y="0"/>
                </a:moveTo>
                <a:lnTo>
                  <a:pt x="4434749" y="0"/>
                </a:lnTo>
                <a:lnTo>
                  <a:pt x="4434749" y="5075536"/>
                </a:lnTo>
                <a:lnTo>
                  <a:pt x="0" y="507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4000" y="703816"/>
            <a:ext cx="7895319" cy="7989311"/>
            <a:chOff x="0" y="0"/>
            <a:chExt cx="6272784" cy="6347460"/>
          </a:xfrm>
        </p:grpSpPr>
        <p:sp>
          <p:nvSpPr>
            <p:cNvPr id="4" name="Freeform 4"/>
            <p:cNvSpPr/>
            <p:nvPr/>
          </p:nvSpPr>
          <p:spPr>
            <a:xfrm>
              <a:off x="6858" y="6858"/>
              <a:ext cx="6866763" cy="6333744"/>
            </a:xfrm>
            <a:custGeom>
              <a:avLst/>
              <a:gdLst/>
              <a:ahLst/>
              <a:cxnLst/>
              <a:rect l="l" t="t" r="r" b="b"/>
              <a:pathLst>
                <a:path w="6866763" h="6333744">
                  <a:moveTo>
                    <a:pt x="5991479" y="3607054"/>
                  </a:moveTo>
                  <a:cubicBezTo>
                    <a:pt x="5687949" y="4197223"/>
                    <a:pt x="5337810" y="4763516"/>
                    <a:pt x="4937125" y="5225669"/>
                  </a:cubicBezTo>
                  <a:cubicBezTo>
                    <a:pt x="4364482" y="5886069"/>
                    <a:pt x="3688461" y="6333744"/>
                    <a:pt x="2896997" y="6333744"/>
                  </a:cubicBezTo>
                  <a:cubicBezTo>
                    <a:pt x="2039747" y="6333744"/>
                    <a:pt x="1098677" y="6098794"/>
                    <a:pt x="528701" y="5412867"/>
                  </a:cubicBezTo>
                  <a:cubicBezTo>
                    <a:pt x="204216" y="5022342"/>
                    <a:pt x="0" y="4485640"/>
                    <a:pt x="0" y="3762883"/>
                  </a:cubicBezTo>
                  <a:cubicBezTo>
                    <a:pt x="0" y="3214116"/>
                    <a:pt x="207645" y="2682240"/>
                    <a:pt x="536702" y="2199386"/>
                  </a:cubicBezTo>
                  <a:cubicBezTo>
                    <a:pt x="780288" y="1841881"/>
                    <a:pt x="1090549" y="1511427"/>
                    <a:pt x="1432179" y="1220978"/>
                  </a:cubicBezTo>
                  <a:cubicBezTo>
                    <a:pt x="1811401" y="898652"/>
                    <a:pt x="2229612" y="625729"/>
                    <a:pt x="2638679" y="420243"/>
                  </a:cubicBezTo>
                  <a:cubicBezTo>
                    <a:pt x="3170047" y="153162"/>
                    <a:pt x="3686302" y="0"/>
                    <a:pt x="4082034" y="0"/>
                  </a:cubicBezTo>
                  <a:cubicBezTo>
                    <a:pt x="5427472" y="0"/>
                    <a:pt x="6866763" y="1905381"/>
                    <a:pt x="5991479" y="3607054"/>
                  </a:cubicBezTo>
                  <a:close/>
                </a:path>
              </a:pathLst>
            </a:custGeom>
            <a:blipFill>
              <a:blip r:embed="rId4"/>
              <a:stretch>
                <a:fillRect l="-26037" r="-26037"/>
              </a:stretch>
            </a:blipFill>
          </p:spPr>
          <p:txBody>
            <a:bodyPr/>
            <a:lstStyle/>
            <a:p>
              <a:endParaRPr lang="en-BE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300851" cy="6347460"/>
            </a:xfrm>
            <a:custGeom>
              <a:avLst/>
              <a:gdLst/>
              <a:ahLst/>
              <a:cxnLst/>
              <a:rect l="l" t="t" r="r" b="b"/>
              <a:pathLst>
                <a:path w="6300851" h="6347460">
                  <a:moveTo>
                    <a:pt x="2903855" y="6347460"/>
                  </a:moveTo>
                  <a:cubicBezTo>
                    <a:pt x="2438654" y="6347460"/>
                    <a:pt x="1991106" y="6277102"/>
                    <a:pt x="1609725" y="6143879"/>
                  </a:cubicBezTo>
                  <a:cubicBezTo>
                    <a:pt x="1159764" y="5986653"/>
                    <a:pt x="796671" y="5744591"/>
                    <a:pt x="530352" y="5424170"/>
                  </a:cubicBezTo>
                  <a:cubicBezTo>
                    <a:pt x="178435" y="5000625"/>
                    <a:pt x="0" y="4443984"/>
                    <a:pt x="0" y="3769741"/>
                  </a:cubicBezTo>
                  <a:cubicBezTo>
                    <a:pt x="0" y="3253486"/>
                    <a:pt x="180975" y="2726182"/>
                    <a:pt x="537845" y="2202434"/>
                  </a:cubicBezTo>
                  <a:cubicBezTo>
                    <a:pt x="771779" y="1859153"/>
                    <a:pt x="1073404" y="1529588"/>
                    <a:pt x="1434592" y="1222629"/>
                  </a:cubicBezTo>
                  <a:cubicBezTo>
                    <a:pt x="1801495" y="910844"/>
                    <a:pt x="2219071" y="633603"/>
                    <a:pt x="2642362" y="421005"/>
                  </a:cubicBezTo>
                  <a:cubicBezTo>
                    <a:pt x="3182747" y="149479"/>
                    <a:pt x="3696462" y="0"/>
                    <a:pt x="4088892" y="0"/>
                  </a:cubicBezTo>
                  <a:cubicBezTo>
                    <a:pt x="4745101" y="0"/>
                    <a:pt x="5447919" y="456946"/>
                    <a:pt x="5879338" y="1164082"/>
                  </a:cubicBezTo>
                  <a:cubicBezTo>
                    <a:pt x="6099556" y="1525143"/>
                    <a:pt x="6232906" y="1927987"/>
                    <a:pt x="6265037" y="2329053"/>
                  </a:cubicBezTo>
                  <a:cubicBezTo>
                    <a:pt x="6300851" y="2777871"/>
                    <a:pt x="6213094" y="3211195"/>
                    <a:pt x="6004306" y="3617087"/>
                  </a:cubicBezTo>
                  <a:lnTo>
                    <a:pt x="5998210" y="3613912"/>
                  </a:lnTo>
                  <a:lnTo>
                    <a:pt x="6004306" y="3617087"/>
                  </a:lnTo>
                  <a:cubicBezTo>
                    <a:pt x="5666105" y="4274566"/>
                    <a:pt x="5311140" y="4819523"/>
                    <a:pt x="4949063" y="5237099"/>
                  </a:cubicBezTo>
                  <a:cubicBezTo>
                    <a:pt x="4646295" y="5586222"/>
                    <a:pt x="4330192" y="5856478"/>
                    <a:pt x="4009263" y="6040247"/>
                  </a:cubicBezTo>
                  <a:cubicBezTo>
                    <a:pt x="3653409" y="6244082"/>
                    <a:pt x="3281426" y="6347460"/>
                    <a:pt x="2903855" y="6347460"/>
                  </a:cubicBezTo>
                  <a:close/>
                  <a:moveTo>
                    <a:pt x="4088892" y="13589"/>
                  </a:moveTo>
                  <a:cubicBezTo>
                    <a:pt x="3698494" y="13589"/>
                    <a:pt x="3186938" y="162560"/>
                    <a:pt x="2648458" y="433197"/>
                  </a:cubicBezTo>
                  <a:cubicBezTo>
                    <a:pt x="2226183" y="645414"/>
                    <a:pt x="1809369" y="922020"/>
                    <a:pt x="1443355" y="1233043"/>
                  </a:cubicBezTo>
                  <a:cubicBezTo>
                    <a:pt x="1083183" y="1539113"/>
                    <a:pt x="782320" y="1867916"/>
                    <a:pt x="549021" y="2210054"/>
                  </a:cubicBezTo>
                  <a:cubicBezTo>
                    <a:pt x="193675" y="2731389"/>
                    <a:pt x="13589" y="3256153"/>
                    <a:pt x="13589" y="3769614"/>
                  </a:cubicBezTo>
                  <a:cubicBezTo>
                    <a:pt x="13589" y="4440555"/>
                    <a:pt x="191008" y="4994275"/>
                    <a:pt x="540766" y="5415280"/>
                  </a:cubicBezTo>
                  <a:cubicBezTo>
                    <a:pt x="825754" y="5758307"/>
                    <a:pt x="1511808" y="6333744"/>
                    <a:pt x="2903728" y="6333744"/>
                  </a:cubicBezTo>
                  <a:cubicBezTo>
                    <a:pt x="3278886" y="6333744"/>
                    <a:pt x="3648583" y="6231001"/>
                    <a:pt x="4002532" y="6028310"/>
                  </a:cubicBezTo>
                  <a:cubicBezTo>
                    <a:pt x="4322064" y="5845303"/>
                    <a:pt x="4637024" y="5576063"/>
                    <a:pt x="4938776" y="5228082"/>
                  </a:cubicBezTo>
                  <a:cubicBezTo>
                    <a:pt x="5300091" y="4811395"/>
                    <a:pt x="5654548" y="4267200"/>
                    <a:pt x="5992240" y="3610737"/>
                  </a:cubicBezTo>
                  <a:cubicBezTo>
                    <a:pt x="6199886" y="3207131"/>
                    <a:pt x="6287007" y="2776347"/>
                    <a:pt x="6251447" y="2330069"/>
                  </a:cubicBezTo>
                  <a:cubicBezTo>
                    <a:pt x="6219570" y="1931035"/>
                    <a:pt x="6086982" y="1530223"/>
                    <a:pt x="5867781" y="1171067"/>
                  </a:cubicBezTo>
                  <a:cubicBezTo>
                    <a:pt x="5438775" y="467995"/>
                    <a:pt x="4740529" y="13589"/>
                    <a:pt x="4088892" y="13589"/>
                  </a:cubicBezTo>
                  <a:close/>
                </a:path>
              </a:pathLst>
            </a:custGeom>
            <a:solidFill>
              <a:srgbClr val="F7E8D9"/>
            </a:solidFill>
          </p:spPr>
          <p:txBody>
            <a:bodyPr/>
            <a:lstStyle/>
            <a:p>
              <a:endParaRPr lang="en-BE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900856" y="6156987"/>
            <a:ext cx="1750484" cy="2536140"/>
            <a:chOff x="0" y="0"/>
            <a:chExt cx="461033" cy="6679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1033" cy="667955"/>
            </a:xfrm>
            <a:custGeom>
              <a:avLst/>
              <a:gdLst/>
              <a:ahLst/>
              <a:cxnLst/>
              <a:rect l="l" t="t" r="r" b="b"/>
              <a:pathLst>
                <a:path w="461033" h="667955">
                  <a:moveTo>
                    <a:pt x="0" y="0"/>
                  </a:moveTo>
                  <a:lnTo>
                    <a:pt x="461033" y="0"/>
                  </a:lnTo>
                  <a:lnTo>
                    <a:pt x="461033" y="667955"/>
                  </a:lnTo>
                  <a:lnTo>
                    <a:pt x="0" y="667955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61033" cy="687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19175"/>
            <a:ext cx="6400039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SCRUM MASTER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181024"/>
            <a:ext cx="9029700" cy="1006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Develop your skills and get ready for the professional Scrum Master 1 Certification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4398" y="-9525"/>
            <a:ext cx="12384696" cy="1135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TRAINING OBJECTIVES?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1110046"/>
            <a:ext cx="5544398" cy="7936098"/>
          </a:xfrm>
          <a:custGeom>
            <a:avLst/>
            <a:gdLst/>
            <a:ahLst/>
            <a:cxnLst/>
            <a:rect l="l" t="t" r="r" b="b"/>
            <a:pathLst>
              <a:path w="5544398" h="7936098">
                <a:moveTo>
                  <a:pt x="0" y="0"/>
                </a:moveTo>
                <a:lnTo>
                  <a:pt x="5544398" y="0"/>
                </a:lnTo>
                <a:lnTo>
                  <a:pt x="5544398" y="7936098"/>
                </a:lnTo>
                <a:lnTo>
                  <a:pt x="0" y="793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TextBox 4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44398" y="3019742"/>
            <a:ext cx="12384697" cy="409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Grasp the challenges within the context of an agile project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Identify potential pitfalls when implementing Scrum 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Be able to clearly explain Scrum to the team and various stakeholders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Gain all the essential knowledge and skills to successfully pass the certification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1622" y="2769768"/>
            <a:ext cx="10107678" cy="4747463"/>
            <a:chOff x="0" y="0"/>
            <a:chExt cx="1464905" cy="688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905" cy="688049"/>
            </a:xfrm>
            <a:custGeom>
              <a:avLst/>
              <a:gdLst/>
              <a:ahLst/>
              <a:cxnLst/>
              <a:rect l="l" t="t" r="r" b="b"/>
              <a:pathLst>
                <a:path w="1464905" h="688049">
                  <a:moveTo>
                    <a:pt x="0" y="0"/>
                  </a:moveTo>
                  <a:lnTo>
                    <a:pt x="1464905" y="0"/>
                  </a:lnTo>
                  <a:lnTo>
                    <a:pt x="1464905" y="688049"/>
                  </a:lnTo>
                  <a:lnTo>
                    <a:pt x="0" y="688049"/>
                  </a:lnTo>
                  <a:close/>
                </a:path>
              </a:pathLst>
            </a:custGeom>
            <a:blipFill>
              <a:blip r:embed="rId2"/>
              <a:stretch>
                <a:fillRect t="-20968" b="-20968"/>
              </a:stretch>
            </a:blipFill>
          </p:spPr>
          <p:txBody>
            <a:bodyPr/>
            <a:lstStyle/>
            <a:p>
              <a:endParaRPr lang="en-B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558295" y="5143500"/>
            <a:ext cx="1750484" cy="2986941"/>
            <a:chOff x="0" y="0"/>
            <a:chExt cx="461033" cy="7866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1033" cy="786684"/>
            </a:xfrm>
            <a:custGeom>
              <a:avLst/>
              <a:gdLst/>
              <a:ahLst/>
              <a:cxnLst/>
              <a:rect l="l" t="t" r="r" b="b"/>
              <a:pathLst>
                <a:path w="461033" h="786684">
                  <a:moveTo>
                    <a:pt x="0" y="0"/>
                  </a:moveTo>
                  <a:lnTo>
                    <a:pt x="461033" y="0"/>
                  </a:lnTo>
                  <a:lnTo>
                    <a:pt x="461033" y="786684"/>
                  </a:lnTo>
                  <a:lnTo>
                    <a:pt x="0" y="786684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61033" cy="805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57218" y="0"/>
            <a:ext cx="730782" cy="10287000"/>
            <a:chOff x="0" y="0"/>
            <a:chExt cx="192469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469" cy="2709333"/>
            </a:xfrm>
            <a:custGeom>
              <a:avLst/>
              <a:gdLst/>
              <a:ahLst/>
              <a:cxnLst/>
              <a:rect l="l" t="t" r="r" b="b"/>
              <a:pathLst>
                <a:path w="192469" h="2709333">
                  <a:moveTo>
                    <a:pt x="0" y="0"/>
                  </a:moveTo>
                  <a:lnTo>
                    <a:pt x="192469" y="0"/>
                  </a:lnTo>
                  <a:lnTo>
                    <a:pt x="19246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92469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0"/>
            <a:ext cx="5029200" cy="1135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AGENDA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50" y="2137509"/>
            <a:ext cx="6558295" cy="586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Agile Methodology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Deep dive into Scrum: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History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Introduction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Theory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Values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Team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Events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Artifacts</a:t>
            </a:r>
          </a:p>
          <a:p>
            <a:pPr marL="1424940" lvl="2" indent="-474980" algn="l">
              <a:lnSpc>
                <a:spcPts val="4620"/>
              </a:lnSpc>
              <a:buFont typeface="Arial"/>
              <a:buChar char="⚬"/>
            </a:pPr>
            <a:r>
              <a:rPr lang="en-US" sz="3300" dirty="0">
                <a:solidFill>
                  <a:srgbClr val="044397"/>
                </a:solidFill>
                <a:latin typeface="Canva Sans"/>
                <a:ea typeface="Canva Sans"/>
                <a:cs typeface="Canva Sans"/>
                <a:sym typeface="Canva Sans"/>
              </a:rPr>
              <a:t>Key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556396"/>
            <a:ext cx="2912349" cy="4872583"/>
          </a:xfrm>
          <a:custGeom>
            <a:avLst/>
            <a:gdLst/>
            <a:ahLst/>
            <a:cxnLst/>
            <a:rect l="l" t="t" r="r" b="b"/>
            <a:pathLst>
              <a:path w="2912349" h="4872583">
                <a:moveTo>
                  <a:pt x="0" y="0"/>
                </a:moveTo>
                <a:lnTo>
                  <a:pt x="2912349" y="0"/>
                </a:lnTo>
                <a:lnTo>
                  <a:pt x="2912349" y="4872583"/>
                </a:lnTo>
                <a:lnTo>
                  <a:pt x="0" y="4872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1049" y="4076065"/>
            <a:ext cx="13433073" cy="1358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4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This symbol indicates that this page presents key concepts for the certification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1169" y="1358977"/>
            <a:ext cx="9432979" cy="4441383"/>
          </a:xfrm>
          <a:custGeom>
            <a:avLst/>
            <a:gdLst/>
            <a:ahLst/>
            <a:cxnLst/>
            <a:rect l="l" t="t" r="r" b="b"/>
            <a:pathLst>
              <a:path w="9432979" h="4441383">
                <a:moveTo>
                  <a:pt x="0" y="0"/>
                </a:moveTo>
                <a:lnTo>
                  <a:pt x="9432979" y="0"/>
                </a:lnTo>
                <a:lnTo>
                  <a:pt x="9432979" y="4441383"/>
                </a:lnTo>
                <a:lnTo>
                  <a:pt x="0" y="444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" t="-20773" b="-20773"/>
            </a:stretch>
          </a:blipFill>
        </p:spPr>
        <p:txBody>
          <a:bodyPr/>
          <a:lstStyle/>
          <a:p>
            <a:endParaRPr lang="en-BE"/>
          </a:p>
        </p:txBody>
      </p:sp>
      <p:grpSp>
        <p:nvGrpSpPr>
          <p:cNvPr id="3" name="Group 3"/>
          <p:cNvGrpSpPr/>
          <p:nvPr/>
        </p:nvGrpSpPr>
        <p:grpSpPr>
          <a:xfrm>
            <a:off x="1028700" y="836359"/>
            <a:ext cx="1750484" cy="2536140"/>
            <a:chOff x="0" y="0"/>
            <a:chExt cx="461033" cy="667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1033" cy="667955"/>
            </a:xfrm>
            <a:custGeom>
              <a:avLst/>
              <a:gdLst/>
              <a:ahLst/>
              <a:cxnLst/>
              <a:rect l="l" t="t" r="r" b="b"/>
              <a:pathLst>
                <a:path w="461033" h="667955">
                  <a:moveTo>
                    <a:pt x="0" y="0"/>
                  </a:moveTo>
                  <a:lnTo>
                    <a:pt x="461033" y="0"/>
                  </a:lnTo>
                  <a:lnTo>
                    <a:pt x="461033" y="667955"/>
                  </a:lnTo>
                  <a:lnTo>
                    <a:pt x="0" y="667955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61033" cy="687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6202074"/>
            <a:ext cx="10115296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WHAT IS AGILE METHODOLOGY?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04124" y="1915174"/>
            <a:ext cx="5300431" cy="1434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54"/>
              </a:lnSpc>
            </a:pPr>
            <a:r>
              <a:rPr lang="en-US" sz="229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Agile is a project management methodology focused on flexibility, collaboration and continuous improvement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04125" y="7402224"/>
            <a:ext cx="5300430" cy="1437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5"/>
              </a:lnSpc>
            </a:pPr>
            <a:r>
              <a:rPr lang="en-US" sz="2354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Encourages frequent feedback from stakeholders to ensure alignment and value delivery</a:t>
            </a:r>
          </a:p>
          <a:p>
            <a:pPr algn="just">
              <a:lnSpc>
                <a:spcPts val="2825"/>
              </a:lnSpc>
            </a:pPr>
            <a:endParaRPr lang="en-US" sz="2354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104125" y="1000125"/>
            <a:ext cx="163469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04125" y="3754149"/>
            <a:ext cx="163469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04125" y="6506874"/>
            <a:ext cx="163469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04125" y="4649499"/>
            <a:ext cx="5300430" cy="1334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27"/>
              </a:lnSpc>
            </a:pPr>
            <a:r>
              <a:rPr lang="en-US" sz="219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It breaks projects into smaller tasks  called iterations or Sprints allowing for quick adjustments and continuous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C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73611" y="1028700"/>
            <a:ext cx="14740777" cy="8531225"/>
          </a:xfrm>
          <a:custGeom>
            <a:avLst/>
            <a:gdLst/>
            <a:ahLst/>
            <a:cxnLst/>
            <a:rect l="l" t="t" r="r" b="b"/>
            <a:pathLst>
              <a:path w="14740777" h="8531225">
                <a:moveTo>
                  <a:pt x="0" y="0"/>
                </a:moveTo>
                <a:lnTo>
                  <a:pt x="14740778" y="0"/>
                </a:lnTo>
                <a:lnTo>
                  <a:pt x="14740778" y="8531225"/>
                </a:lnTo>
                <a:lnTo>
                  <a:pt x="0" y="853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134686"/>
            <a:ext cx="18288000" cy="92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Scrum is part of the Agile Heritage; inspired by Lean, Kanban and Design Thinking. Created in 1995, it  places people at the center to deliver value.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148998" y="1028700"/>
            <a:ext cx="730782" cy="8531225"/>
            <a:chOff x="0" y="0"/>
            <a:chExt cx="192469" cy="2478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469" cy="2478890"/>
            </a:xfrm>
            <a:custGeom>
              <a:avLst/>
              <a:gdLst/>
              <a:ahLst/>
              <a:cxnLst/>
              <a:rect l="l" t="t" r="r" b="b"/>
              <a:pathLst>
                <a:path w="192469" h="2478890">
                  <a:moveTo>
                    <a:pt x="0" y="0"/>
                  </a:moveTo>
                  <a:lnTo>
                    <a:pt x="192469" y="0"/>
                  </a:lnTo>
                  <a:lnTo>
                    <a:pt x="192469" y="2478890"/>
                  </a:lnTo>
                  <a:lnTo>
                    <a:pt x="0" y="2478890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92469" cy="249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7375" y="1028700"/>
            <a:ext cx="730782" cy="8531225"/>
            <a:chOff x="0" y="0"/>
            <a:chExt cx="192469" cy="2478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469" cy="2478890"/>
            </a:xfrm>
            <a:custGeom>
              <a:avLst/>
              <a:gdLst/>
              <a:ahLst/>
              <a:cxnLst/>
              <a:rect l="l" t="t" r="r" b="b"/>
              <a:pathLst>
                <a:path w="192469" h="2478890">
                  <a:moveTo>
                    <a:pt x="0" y="0"/>
                  </a:moveTo>
                  <a:lnTo>
                    <a:pt x="192469" y="0"/>
                  </a:lnTo>
                  <a:lnTo>
                    <a:pt x="192469" y="2478890"/>
                  </a:lnTo>
                  <a:lnTo>
                    <a:pt x="0" y="2478890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2469" cy="2497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59905"/>
            <a:ext cx="8277907" cy="6767189"/>
          </a:xfrm>
          <a:custGeom>
            <a:avLst/>
            <a:gdLst/>
            <a:ahLst/>
            <a:cxnLst/>
            <a:rect l="l" t="t" r="r" b="b"/>
            <a:pathLst>
              <a:path w="8277907" h="6767189">
                <a:moveTo>
                  <a:pt x="0" y="0"/>
                </a:moveTo>
                <a:lnTo>
                  <a:pt x="8277907" y="0"/>
                </a:lnTo>
                <a:lnTo>
                  <a:pt x="8277907" y="6767190"/>
                </a:lnTo>
                <a:lnTo>
                  <a:pt x="0" y="6767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39656" y="2042158"/>
            <a:ext cx="2812405" cy="85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Fail Fast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58285" y="4630737"/>
            <a:ext cx="3316541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2"/>
              </a:lnSpc>
              <a:spcBef>
                <a:spcPct val="0"/>
              </a:spcBef>
            </a:pPr>
            <a:r>
              <a:rPr lang="en-US" sz="4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Learn Fast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58285" y="7227888"/>
            <a:ext cx="4501816" cy="7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3"/>
              </a:lnSpc>
              <a:spcBef>
                <a:spcPct val="0"/>
              </a:spcBef>
            </a:pPr>
            <a:r>
              <a:rPr lang="en-US" sz="439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Deliver Quickly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8386" y="-32071"/>
            <a:ext cx="13956442" cy="1135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BENEFITS OF AGILE PLANNING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4991" y="2283459"/>
            <a:ext cx="9537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94991" y="4872037"/>
            <a:ext cx="9537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94991" y="7460616"/>
            <a:ext cx="9537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03.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56353"/>
            <a:ext cx="9455504" cy="4441144"/>
            <a:chOff x="0" y="0"/>
            <a:chExt cx="1464905" cy="688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4905" cy="688049"/>
            </a:xfrm>
            <a:custGeom>
              <a:avLst/>
              <a:gdLst/>
              <a:ahLst/>
              <a:cxnLst/>
              <a:rect l="l" t="t" r="r" b="b"/>
              <a:pathLst>
                <a:path w="1464905" h="688049">
                  <a:moveTo>
                    <a:pt x="0" y="0"/>
                  </a:moveTo>
                  <a:lnTo>
                    <a:pt x="1464905" y="0"/>
                  </a:lnTo>
                  <a:lnTo>
                    <a:pt x="1464905" y="688049"/>
                  </a:lnTo>
                  <a:lnTo>
                    <a:pt x="0" y="688049"/>
                  </a:lnTo>
                  <a:close/>
                </a:path>
              </a:pathLst>
            </a:custGeom>
            <a:blipFill>
              <a:blip r:embed="rId2"/>
              <a:stretch>
                <a:fillRect t="-21057" b="-21057"/>
              </a:stretch>
            </a:blipFill>
          </p:spPr>
          <p:txBody>
            <a:bodyPr/>
            <a:lstStyle/>
            <a:p>
              <a:endParaRPr lang="en-BE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28775" y="190389"/>
            <a:ext cx="8255354" cy="2390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8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CORE PRINCIPLES OF AGILE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89654" y="1200150"/>
            <a:ext cx="4669803" cy="3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u="sng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Customer Collaboration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89654" y="1859498"/>
            <a:ext cx="4669803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Engage with customers throughout the project.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89654" y="3404295"/>
            <a:ext cx="4669803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sng" strike="noStrike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Adaptability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89654" y="4063643"/>
            <a:ext cx="4669803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Ability to change course based on feedback.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9654" y="5625743"/>
            <a:ext cx="4669803" cy="3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u="sng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Iterative 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9654" y="6285091"/>
            <a:ext cx="4669803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Regular updates and iterations ensure progress.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9654" y="7795281"/>
            <a:ext cx="4669803" cy="3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u="sng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Self-Organizing Teams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9654" y="8454629"/>
            <a:ext cx="4669803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Teams manage their own work with autonomy.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557218" y="0"/>
            <a:ext cx="730782" cy="10287000"/>
            <a:chOff x="0" y="0"/>
            <a:chExt cx="192469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2469" cy="2709333"/>
            </a:xfrm>
            <a:custGeom>
              <a:avLst/>
              <a:gdLst/>
              <a:ahLst/>
              <a:cxnLst/>
              <a:rect l="l" t="t" r="r" b="b"/>
              <a:pathLst>
                <a:path w="192469" h="2709333">
                  <a:moveTo>
                    <a:pt x="0" y="0"/>
                  </a:moveTo>
                  <a:lnTo>
                    <a:pt x="192469" y="0"/>
                  </a:lnTo>
                  <a:lnTo>
                    <a:pt x="19246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92469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59300" y="9248775"/>
            <a:ext cx="48220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49" r="-6249"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17259300" y="9248775"/>
            <a:ext cx="145256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10346" y="1646424"/>
            <a:ext cx="7077654" cy="6166406"/>
          </a:xfrm>
          <a:custGeom>
            <a:avLst/>
            <a:gdLst/>
            <a:ahLst/>
            <a:cxnLst/>
            <a:rect l="l" t="t" r="r" b="b"/>
            <a:pathLst>
              <a:path w="7077654" h="6166406">
                <a:moveTo>
                  <a:pt x="0" y="0"/>
                </a:moveTo>
                <a:lnTo>
                  <a:pt x="7077654" y="0"/>
                </a:lnTo>
                <a:lnTo>
                  <a:pt x="7077654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Freeform 3"/>
          <p:cNvSpPr/>
          <p:nvPr/>
        </p:nvSpPr>
        <p:spPr>
          <a:xfrm>
            <a:off x="12721627" y="7812830"/>
            <a:ext cx="4055093" cy="1662588"/>
          </a:xfrm>
          <a:custGeom>
            <a:avLst/>
            <a:gdLst/>
            <a:ahLst/>
            <a:cxnLst/>
            <a:rect l="l" t="t" r="r" b="b"/>
            <a:pathLst>
              <a:path w="4055093" h="1662588">
                <a:moveTo>
                  <a:pt x="0" y="0"/>
                </a:moveTo>
                <a:lnTo>
                  <a:pt x="4055092" y="0"/>
                </a:lnTo>
                <a:lnTo>
                  <a:pt x="4055092" y="1662588"/>
                </a:lnTo>
                <a:lnTo>
                  <a:pt x="0" y="1662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TextBox 4"/>
          <p:cNvSpPr txBox="1"/>
          <p:nvPr/>
        </p:nvSpPr>
        <p:spPr>
          <a:xfrm>
            <a:off x="243892" y="1579749"/>
            <a:ext cx="10966454" cy="804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25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Formalization of Scrum</a:t>
            </a:r>
          </a:p>
          <a:p>
            <a:pPr algn="l">
              <a:lnSpc>
                <a:spcPts val="3675"/>
              </a:lnSpc>
            </a:pPr>
            <a:endParaRPr lang="en-US" sz="2625" b="1" dirty="0">
              <a:solidFill>
                <a:srgbClr val="04439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57200" indent="-457200" algn="l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Scrum was formalized in 1995 by Jeff Sutherland and Ken </a:t>
            </a:r>
            <a:r>
              <a:rPr lang="en-US" sz="2625" dirty="0" err="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Schwaber</a:t>
            </a: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during the </a:t>
            </a:r>
            <a:r>
              <a:rPr lang="en-US" sz="2625" dirty="0" err="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Oopsla</a:t>
            </a: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(Object-oriented programming, systems, languages &amp; applications) conference.</a:t>
            </a:r>
          </a:p>
          <a:p>
            <a:pPr marL="457200" indent="-457200" algn="l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The framework was designed to address complex software development projects by improving teamwork, adaptability and efficiency. </a:t>
            </a:r>
          </a:p>
          <a:p>
            <a:pPr algn="l">
              <a:lnSpc>
                <a:spcPts val="3675"/>
              </a:lnSpc>
            </a:pPr>
            <a:endParaRPr lang="en-US" sz="2625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75"/>
              </a:lnSpc>
            </a:pPr>
            <a:r>
              <a:rPr lang="en-US" sz="2625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The Scrum Guide</a:t>
            </a:r>
          </a:p>
          <a:p>
            <a:pPr algn="l">
              <a:lnSpc>
                <a:spcPts val="3675"/>
              </a:lnSpc>
            </a:pPr>
            <a:endParaRPr lang="en-US" sz="2625" b="1" dirty="0">
              <a:solidFill>
                <a:srgbClr val="04439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57200" indent="-457200" algn="l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Sutherland and </a:t>
            </a:r>
            <a:r>
              <a:rPr lang="en-US" sz="2625" dirty="0" err="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Schwaber</a:t>
            </a: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published the first version of the Scrum Guide in 2010.</a:t>
            </a:r>
          </a:p>
          <a:p>
            <a:pPr marL="457200" indent="-457200" algn="l">
              <a:lnSpc>
                <a:spcPts val="3675"/>
              </a:lnSpc>
              <a:buFont typeface="Arial" panose="020B0604020202020204" pitchFamily="34" charset="0"/>
              <a:buChar char="•"/>
            </a:pPr>
            <a:r>
              <a:rPr lang="en-US" sz="2625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The latest version was updated in November 2020, simplifying and clarifying the framework.</a:t>
            </a:r>
          </a:p>
          <a:p>
            <a:pPr algn="l">
              <a:lnSpc>
                <a:spcPts val="3675"/>
              </a:lnSpc>
            </a:pPr>
            <a:endParaRPr lang="en-US" sz="2625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75"/>
              </a:lnSpc>
              <a:spcBef>
                <a:spcPct val="0"/>
              </a:spcBef>
            </a:pPr>
            <a:endParaRPr lang="en-US" sz="2625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59300" y="9248775"/>
            <a:ext cx="290512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9050"/>
            <a:ext cx="4251908" cy="1126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480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Freeform 3"/>
          <p:cNvSpPr/>
          <p:nvPr/>
        </p:nvSpPr>
        <p:spPr>
          <a:xfrm>
            <a:off x="12878841" y="1520049"/>
            <a:ext cx="5061891" cy="3374594"/>
          </a:xfrm>
          <a:custGeom>
            <a:avLst/>
            <a:gdLst/>
            <a:ahLst/>
            <a:cxnLst/>
            <a:rect l="l" t="t" r="r" b="b"/>
            <a:pathLst>
              <a:path w="5061891" h="3374594">
                <a:moveTo>
                  <a:pt x="0" y="0"/>
                </a:moveTo>
                <a:lnTo>
                  <a:pt x="5061891" y="0"/>
                </a:lnTo>
                <a:lnTo>
                  <a:pt x="5061891" y="3374595"/>
                </a:lnTo>
                <a:lnTo>
                  <a:pt x="0" y="3374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TextBox 4"/>
          <p:cNvSpPr txBox="1"/>
          <p:nvPr/>
        </p:nvSpPr>
        <p:spPr>
          <a:xfrm>
            <a:off x="2924730" y="281642"/>
            <a:ext cx="12438539" cy="88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663" y="2040534"/>
            <a:ext cx="11981014" cy="2333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Definition </a:t>
            </a:r>
          </a:p>
          <a:p>
            <a:pPr algn="l">
              <a:lnSpc>
                <a:spcPts val="3599"/>
              </a:lnSpc>
            </a:pPr>
            <a:endParaRPr lang="en-US" sz="3199" b="1" dirty="0">
              <a:solidFill>
                <a:srgbClr val="04439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Scrum is a lightweight framework that helps people, teams and organizations generate value through adaptive solutions to complex problems.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663" y="5231697"/>
            <a:ext cx="12532546" cy="494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Core requirements</a:t>
            </a:r>
          </a:p>
          <a:p>
            <a:pPr algn="l">
              <a:lnSpc>
                <a:spcPts val="4479"/>
              </a:lnSpc>
            </a:pPr>
            <a:endParaRPr lang="en-US" sz="3199" b="1" dirty="0">
              <a:solidFill>
                <a:srgbClr val="04439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7694" lvl="1" indent="-323847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A product owner manages the product backlog</a:t>
            </a:r>
          </a:p>
          <a:p>
            <a:pPr marL="647694" lvl="1" indent="-323847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The Scrum team delivers a value increment during each Sprint </a:t>
            </a:r>
          </a:p>
          <a:p>
            <a:pPr marL="647694" lvl="1" indent="-323847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Continuous inspection and adaptation</a:t>
            </a:r>
          </a:p>
          <a:p>
            <a:pPr marL="647694" lvl="1" indent="-323847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Repeat</a:t>
            </a:r>
          </a:p>
          <a:p>
            <a:pPr algn="l">
              <a:lnSpc>
                <a:spcPts val="4479"/>
              </a:lnSpc>
            </a:pPr>
            <a:endParaRPr lang="en-US" sz="2999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2975733" y="295640"/>
            <a:ext cx="12438539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7200" dirty="0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THEORY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34467" y="820102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05290"/>
            <a:ext cx="16230600" cy="217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3145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 FOUNDATION: </a:t>
            </a:r>
          </a:p>
          <a:p>
            <a:pPr marL="594232" lvl="1" indent="-297116" algn="l">
              <a:lnSpc>
                <a:spcPts val="3302"/>
              </a:lnSpc>
              <a:buFont typeface="Arial"/>
              <a:buChar char="•"/>
            </a:pPr>
            <a:r>
              <a:rPr lang="en-US" sz="2752" b="1" dirty="0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52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Empiricism: Knowledge comes from experience and decisions are based on observations</a:t>
            </a:r>
          </a:p>
          <a:p>
            <a:pPr marL="594232" lvl="1" indent="-297116" algn="l">
              <a:lnSpc>
                <a:spcPts val="3302"/>
              </a:lnSpc>
              <a:buFont typeface="Arial"/>
              <a:buChar char="•"/>
            </a:pPr>
            <a:r>
              <a:rPr lang="en-US" sz="2752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Lean Thinking: Focuses on reducing waste and maximizing value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endParaRPr lang="en-US" sz="2752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592115"/>
            <a:ext cx="1198101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44397"/>
                </a:solidFill>
                <a:latin typeface="Poppins Bold"/>
                <a:ea typeface="Poppins Bold"/>
                <a:cs typeface="Poppins Bold"/>
                <a:sym typeface="Poppins Bold"/>
              </a:rPr>
              <a:t> PILLARS OF SCRUM MANAGEMENT:</a:t>
            </a:r>
          </a:p>
        </p:txBody>
      </p:sp>
      <p:sp>
        <p:nvSpPr>
          <p:cNvPr id="7" name="Freeform 7"/>
          <p:cNvSpPr/>
          <p:nvPr/>
        </p:nvSpPr>
        <p:spPr>
          <a:xfrm>
            <a:off x="3291680" y="4249340"/>
            <a:ext cx="2592822" cy="2592822"/>
          </a:xfrm>
          <a:custGeom>
            <a:avLst/>
            <a:gdLst/>
            <a:ahLst/>
            <a:cxnLst/>
            <a:rect l="l" t="t" r="r" b="b"/>
            <a:pathLst>
              <a:path w="2592822" h="2592822">
                <a:moveTo>
                  <a:pt x="0" y="0"/>
                </a:moveTo>
                <a:lnTo>
                  <a:pt x="2592822" y="0"/>
                </a:lnTo>
                <a:lnTo>
                  <a:pt x="2592822" y="2592822"/>
                </a:lnTo>
                <a:lnTo>
                  <a:pt x="0" y="2592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8" name="Freeform 8"/>
          <p:cNvSpPr/>
          <p:nvPr/>
        </p:nvSpPr>
        <p:spPr>
          <a:xfrm>
            <a:off x="8075142" y="4249340"/>
            <a:ext cx="2592822" cy="2592822"/>
          </a:xfrm>
          <a:custGeom>
            <a:avLst/>
            <a:gdLst/>
            <a:ahLst/>
            <a:cxnLst/>
            <a:rect l="l" t="t" r="r" b="b"/>
            <a:pathLst>
              <a:path w="2592822" h="2592822">
                <a:moveTo>
                  <a:pt x="0" y="0"/>
                </a:moveTo>
                <a:lnTo>
                  <a:pt x="2592822" y="0"/>
                </a:lnTo>
                <a:lnTo>
                  <a:pt x="2592822" y="2592822"/>
                </a:lnTo>
                <a:lnTo>
                  <a:pt x="0" y="2592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9" name="Freeform 9"/>
          <p:cNvSpPr/>
          <p:nvPr/>
        </p:nvSpPr>
        <p:spPr>
          <a:xfrm>
            <a:off x="12859550" y="4249340"/>
            <a:ext cx="2592822" cy="2592822"/>
          </a:xfrm>
          <a:custGeom>
            <a:avLst/>
            <a:gdLst/>
            <a:ahLst/>
            <a:cxnLst/>
            <a:rect l="l" t="t" r="r" b="b"/>
            <a:pathLst>
              <a:path w="2592822" h="2592822">
                <a:moveTo>
                  <a:pt x="0" y="0"/>
                </a:moveTo>
                <a:lnTo>
                  <a:pt x="2592822" y="0"/>
                </a:lnTo>
                <a:lnTo>
                  <a:pt x="2592822" y="2592822"/>
                </a:lnTo>
                <a:lnTo>
                  <a:pt x="0" y="2592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0" name="Freeform 10"/>
          <p:cNvSpPr/>
          <p:nvPr/>
        </p:nvSpPr>
        <p:spPr>
          <a:xfrm rot="-5400000">
            <a:off x="3455682" y="4413342"/>
            <a:ext cx="2264819" cy="2264819"/>
          </a:xfrm>
          <a:custGeom>
            <a:avLst/>
            <a:gdLst/>
            <a:ahLst/>
            <a:cxnLst/>
            <a:rect l="l" t="t" r="r" b="b"/>
            <a:pathLst>
              <a:path w="2264819" h="2264819">
                <a:moveTo>
                  <a:pt x="0" y="0"/>
                </a:moveTo>
                <a:lnTo>
                  <a:pt x="2264819" y="0"/>
                </a:lnTo>
                <a:lnTo>
                  <a:pt x="2264819" y="2264818"/>
                </a:lnTo>
                <a:lnTo>
                  <a:pt x="0" y="22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1" name="Freeform 11"/>
          <p:cNvSpPr/>
          <p:nvPr/>
        </p:nvSpPr>
        <p:spPr>
          <a:xfrm rot="-5400000">
            <a:off x="8239144" y="4413342"/>
            <a:ext cx="2264819" cy="2264819"/>
          </a:xfrm>
          <a:custGeom>
            <a:avLst/>
            <a:gdLst/>
            <a:ahLst/>
            <a:cxnLst/>
            <a:rect l="l" t="t" r="r" b="b"/>
            <a:pathLst>
              <a:path w="2264819" h="2264819">
                <a:moveTo>
                  <a:pt x="0" y="0"/>
                </a:moveTo>
                <a:lnTo>
                  <a:pt x="2264818" y="0"/>
                </a:lnTo>
                <a:lnTo>
                  <a:pt x="2264818" y="2264818"/>
                </a:lnTo>
                <a:lnTo>
                  <a:pt x="0" y="22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2" name="Freeform 12"/>
          <p:cNvSpPr/>
          <p:nvPr/>
        </p:nvSpPr>
        <p:spPr>
          <a:xfrm rot="-5400000">
            <a:off x="13023552" y="4413342"/>
            <a:ext cx="2264819" cy="2264819"/>
          </a:xfrm>
          <a:custGeom>
            <a:avLst/>
            <a:gdLst/>
            <a:ahLst/>
            <a:cxnLst/>
            <a:rect l="l" t="t" r="r" b="b"/>
            <a:pathLst>
              <a:path w="2264819" h="2264819">
                <a:moveTo>
                  <a:pt x="0" y="0"/>
                </a:moveTo>
                <a:lnTo>
                  <a:pt x="2264818" y="0"/>
                </a:lnTo>
                <a:lnTo>
                  <a:pt x="2264818" y="2264818"/>
                </a:lnTo>
                <a:lnTo>
                  <a:pt x="0" y="2264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3" name="Freeform 13"/>
          <p:cNvSpPr/>
          <p:nvPr/>
        </p:nvSpPr>
        <p:spPr>
          <a:xfrm>
            <a:off x="3535984" y="4493644"/>
            <a:ext cx="2104214" cy="2104214"/>
          </a:xfrm>
          <a:custGeom>
            <a:avLst/>
            <a:gdLst/>
            <a:ahLst/>
            <a:cxnLst/>
            <a:rect l="l" t="t" r="r" b="b"/>
            <a:pathLst>
              <a:path w="2104214" h="2104214">
                <a:moveTo>
                  <a:pt x="0" y="0"/>
                </a:moveTo>
                <a:lnTo>
                  <a:pt x="2104214" y="0"/>
                </a:lnTo>
                <a:lnTo>
                  <a:pt x="2104214" y="2104214"/>
                </a:lnTo>
                <a:lnTo>
                  <a:pt x="0" y="210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4" name="Freeform 14"/>
          <p:cNvSpPr/>
          <p:nvPr/>
        </p:nvSpPr>
        <p:spPr>
          <a:xfrm>
            <a:off x="8319446" y="4493644"/>
            <a:ext cx="2104214" cy="2104214"/>
          </a:xfrm>
          <a:custGeom>
            <a:avLst/>
            <a:gdLst/>
            <a:ahLst/>
            <a:cxnLst/>
            <a:rect l="l" t="t" r="r" b="b"/>
            <a:pathLst>
              <a:path w="2104214" h="2104214">
                <a:moveTo>
                  <a:pt x="0" y="0"/>
                </a:moveTo>
                <a:lnTo>
                  <a:pt x="2104214" y="0"/>
                </a:lnTo>
                <a:lnTo>
                  <a:pt x="2104214" y="2104214"/>
                </a:lnTo>
                <a:lnTo>
                  <a:pt x="0" y="210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5" name="Freeform 15"/>
          <p:cNvSpPr/>
          <p:nvPr/>
        </p:nvSpPr>
        <p:spPr>
          <a:xfrm>
            <a:off x="13103854" y="4493644"/>
            <a:ext cx="2104214" cy="2104214"/>
          </a:xfrm>
          <a:custGeom>
            <a:avLst/>
            <a:gdLst/>
            <a:ahLst/>
            <a:cxnLst/>
            <a:rect l="l" t="t" r="r" b="b"/>
            <a:pathLst>
              <a:path w="2104214" h="2104214">
                <a:moveTo>
                  <a:pt x="0" y="0"/>
                </a:moveTo>
                <a:lnTo>
                  <a:pt x="2104214" y="0"/>
                </a:lnTo>
                <a:lnTo>
                  <a:pt x="2104214" y="2104214"/>
                </a:lnTo>
                <a:lnTo>
                  <a:pt x="0" y="210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6" name="Freeform 16"/>
          <p:cNvSpPr/>
          <p:nvPr/>
        </p:nvSpPr>
        <p:spPr>
          <a:xfrm rot="-5400000">
            <a:off x="3607257" y="4561712"/>
            <a:ext cx="1961669" cy="1961669"/>
          </a:xfrm>
          <a:custGeom>
            <a:avLst/>
            <a:gdLst/>
            <a:ahLst/>
            <a:cxnLst/>
            <a:rect l="l" t="t" r="r" b="b"/>
            <a:pathLst>
              <a:path w="1961669" h="1961669">
                <a:moveTo>
                  <a:pt x="0" y="0"/>
                </a:moveTo>
                <a:lnTo>
                  <a:pt x="1961669" y="0"/>
                </a:lnTo>
                <a:lnTo>
                  <a:pt x="1961669" y="1961669"/>
                </a:lnTo>
                <a:lnTo>
                  <a:pt x="0" y="1961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7" name="Freeform 17"/>
          <p:cNvSpPr/>
          <p:nvPr/>
        </p:nvSpPr>
        <p:spPr>
          <a:xfrm rot="-5400000">
            <a:off x="8390719" y="4561712"/>
            <a:ext cx="1961669" cy="1961669"/>
          </a:xfrm>
          <a:custGeom>
            <a:avLst/>
            <a:gdLst/>
            <a:ahLst/>
            <a:cxnLst/>
            <a:rect l="l" t="t" r="r" b="b"/>
            <a:pathLst>
              <a:path w="1961669" h="1961669">
                <a:moveTo>
                  <a:pt x="0" y="0"/>
                </a:moveTo>
                <a:lnTo>
                  <a:pt x="1961668" y="0"/>
                </a:lnTo>
                <a:lnTo>
                  <a:pt x="1961668" y="1961669"/>
                </a:lnTo>
                <a:lnTo>
                  <a:pt x="0" y="1961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8" name="Freeform 18"/>
          <p:cNvSpPr/>
          <p:nvPr/>
        </p:nvSpPr>
        <p:spPr>
          <a:xfrm rot="-5400000">
            <a:off x="13175127" y="4561712"/>
            <a:ext cx="1961669" cy="1961669"/>
          </a:xfrm>
          <a:custGeom>
            <a:avLst/>
            <a:gdLst/>
            <a:ahLst/>
            <a:cxnLst/>
            <a:rect l="l" t="t" r="r" b="b"/>
            <a:pathLst>
              <a:path w="1961669" h="1961669">
                <a:moveTo>
                  <a:pt x="0" y="0"/>
                </a:moveTo>
                <a:lnTo>
                  <a:pt x="1961668" y="0"/>
                </a:lnTo>
                <a:lnTo>
                  <a:pt x="1961668" y="1961669"/>
                </a:lnTo>
                <a:lnTo>
                  <a:pt x="0" y="1961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19" name="Freeform 19"/>
          <p:cNvSpPr/>
          <p:nvPr/>
        </p:nvSpPr>
        <p:spPr>
          <a:xfrm>
            <a:off x="4051814" y="5009405"/>
            <a:ext cx="1066283" cy="1066283"/>
          </a:xfrm>
          <a:custGeom>
            <a:avLst/>
            <a:gdLst/>
            <a:ahLst/>
            <a:cxnLst/>
            <a:rect l="l" t="t" r="r" b="b"/>
            <a:pathLst>
              <a:path w="1066283" h="1066283">
                <a:moveTo>
                  <a:pt x="0" y="0"/>
                </a:moveTo>
                <a:lnTo>
                  <a:pt x="1066283" y="0"/>
                </a:lnTo>
                <a:lnTo>
                  <a:pt x="1066283" y="1066283"/>
                </a:lnTo>
                <a:lnTo>
                  <a:pt x="0" y="10662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20" name="Freeform 20"/>
          <p:cNvSpPr/>
          <p:nvPr/>
        </p:nvSpPr>
        <p:spPr>
          <a:xfrm>
            <a:off x="8739176" y="4912070"/>
            <a:ext cx="1265700" cy="1260954"/>
          </a:xfrm>
          <a:custGeom>
            <a:avLst/>
            <a:gdLst/>
            <a:ahLst/>
            <a:cxnLst/>
            <a:rect l="l" t="t" r="r" b="b"/>
            <a:pathLst>
              <a:path w="1265700" h="1260954">
                <a:moveTo>
                  <a:pt x="0" y="0"/>
                </a:moveTo>
                <a:lnTo>
                  <a:pt x="1265700" y="0"/>
                </a:lnTo>
                <a:lnTo>
                  <a:pt x="1265700" y="1260953"/>
                </a:lnTo>
                <a:lnTo>
                  <a:pt x="0" y="12609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21" name="Freeform 21"/>
          <p:cNvSpPr/>
          <p:nvPr/>
        </p:nvSpPr>
        <p:spPr>
          <a:xfrm>
            <a:off x="13625449" y="4875919"/>
            <a:ext cx="1178743" cy="1297104"/>
          </a:xfrm>
          <a:custGeom>
            <a:avLst/>
            <a:gdLst/>
            <a:ahLst/>
            <a:cxnLst/>
            <a:rect l="l" t="t" r="r" b="b"/>
            <a:pathLst>
              <a:path w="1178743" h="1297104">
                <a:moveTo>
                  <a:pt x="0" y="0"/>
                </a:moveTo>
                <a:lnTo>
                  <a:pt x="1178744" y="0"/>
                </a:lnTo>
                <a:lnTo>
                  <a:pt x="1178744" y="1297104"/>
                </a:lnTo>
                <a:lnTo>
                  <a:pt x="0" y="12971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22" name="TextBox 22"/>
          <p:cNvSpPr txBox="1"/>
          <p:nvPr/>
        </p:nvSpPr>
        <p:spPr>
          <a:xfrm>
            <a:off x="2722584" y="7619301"/>
            <a:ext cx="3730068" cy="134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1"/>
              </a:lnSpc>
            </a:pPr>
            <a:r>
              <a:rPr lang="en-US" sz="1608" dirty="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ALL TEAM MEMBERS MUST CLEARLY UNDERSTAND THE PROGRESS, CHALLENGES AND GOALS OF THE PROJECT.</a:t>
            </a:r>
          </a:p>
          <a:p>
            <a:pPr algn="just">
              <a:lnSpc>
                <a:spcPts val="2091"/>
              </a:lnSpc>
            </a:pPr>
            <a:endParaRPr lang="en-US" sz="1608" dirty="0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6046" y="7619301"/>
            <a:ext cx="3730068" cy="131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1"/>
              </a:lnSpc>
            </a:pPr>
            <a:r>
              <a:rPr lang="en-US" sz="1608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REGULAR REVIEWS OF PROGRESS ENSURE ALIGNMENT WITH OBJECTIVES AND ALLOW FOR NECESSARY ADJUSTMENTS.</a:t>
            </a:r>
          </a:p>
          <a:p>
            <a:pPr algn="just">
              <a:lnSpc>
                <a:spcPts val="2091"/>
              </a:lnSpc>
            </a:pPr>
            <a:endParaRPr lang="en-US" sz="1608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290454" y="7619301"/>
            <a:ext cx="3730068" cy="105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1"/>
              </a:lnSpc>
            </a:pPr>
            <a:r>
              <a:rPr lang="en-US" sz="1608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TEAMS ADJUST THEIR PLANS AND STRATEGIES BASED ON THE RESULTS OF INSPECTIONS AND FEEDBACK.</a:t>
            </a:r>
          </a:p>
          <a:p>
            <a:pPr algn="just">
              <a:lnSpc>
                <a:spcPts val="2091"/>
              </a:lnSpc>
            </a:pPr>
            <a:endParaRPr lang="en-US" sz="1608">
              <a:solidFill>
                <a:srgbClr val="0443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291680" y="7045846"/>
            <a:ext cx="2592822" cy="39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65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TRANSPARENCY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42768" y="7045846"/>
            <a:ext cx="2857570" cy="39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65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INSPECTION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03854" y="7045846"/>
            <a:ext cx="2104214" cy="39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651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ADAPTATION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Freeform 3"/>
          <p:cNvSpPr/>
          <p:nvPr/>
        </p:nvSpPr>
        <p:spPr>
          <a:xfrm>
            <a:off x="2463471" y="1028700"/>
            <a:ext cx="13903594" cy="8724505"/>
          </a:xfrm>
          <a:custGeom>
            <a:avLst/>
            <a:gdLst/>
            <a:ahLst/>
            <a:cxnLst/>
            <a:rect l="l" t="t" r="r" b="b"/>
            <a:pathLst>
              <a:path w="13903594" h="8724505">
                <a:moveTo>
                  <a:pt x="0" y="0"/>
                </a:moveTo>
                <a:lnTo>
                  <a:pt x="13903594" y="0"/>
                </a:lnTo>
                <a:lnTo>
                  <a:pt x="13903594" y="8724505"/>
                </a:lnTo>
                <a:lnTo>
                  <a:pt x="0" y="8724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TextBox 4"/>
          <p:cNvSpPr txBox="1"/>
          <p:nvPr/>
        </p:nvSpPr>
        <p:spPr>
          <a:xfrm>
            <a:off x="5513081" y="-9525"/>
            <a:ext cx="780437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5674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5 VALUES OF SCRUM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Freeform 3"/>
          <p:cNvSpPr/>
          <p:nvPr/>
        </p:nvSpPr>
        <p:spPr>
          <a:xfrm>
            <a:off x="5749468" y="3393019"/>
            <a:ext cx="7331601" cy="5865281"/>
          </a:xfrm>
          <a:custGeom>
            <a:avLst/>
            <a:gdLst/>
            <a:ahLst/>
            <a:cxnLst/>
            <a:rect l="l" t="t" r="r" b="b"/>
            <a:pathLst>
              <a:path w="7331601" h="5865281">
                <a:moveTo>
                  <a:pt x="0" y="0"/>
                </a:moveTo>
                <a:lnTo>
                  <a:pt x="7331601" y="0"/>
                </a:lnTo>
                <a:lnTo>
                  <a:pt x="7331601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80" r="-11771"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TextBox 4"/>
          <p:cNvSpPr txBox="1"/>
          <p:nvPr/>
        </p:nvSpPr>
        <p:spPr>
          <a:xfrm>
            <a:off x="5513081" y="-9525"/>
            <a:ext cx="780437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5674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SCRUM TEAM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49468" y="3012019"/>
            <a:ext cx="733160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MAXIMIZES PRODUCT VALUE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1069" y="7414288"/>
            <a:ext cx="31495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MAXIMIZES PRODUCT VALUE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57976" y="7414288"/>
            <a:ext cx="5907443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CREATE THE INCREMENT</a:t>
            </a:r>
          </a:p>
          <a:p>
            <a:pPr marL="647697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DEVELOPERS, BUSINESS ANALYST, TESTERS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grpSp>
        <p:nvGrpSpPr>
          <p:cNvPr id="3" name="Group 3"/>
          <p:cNvGrpSpPr/>
          <p:nvPr/>
        </p:nvGrpSpPr>
        <p:grpSpPr>
          <a:xfrm>
            <a:off x="812358" y="1248012"/>
            <a:ext cx="17337203" cy="675763"/>
            <a:chOff x="0" y="0"/>
            <a:chExt cx="4566177" cy="1779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6177" cy="177979"/>
            </a:xfrm>
            <a:custGeom>
              <a:avLst/>
              <a:gdLst/>
              <a:ahLst/>
              <a:cxnLst/>
              <a:rect l="l" t="t" r="r" b="b"/>
              <a:pathLst>
                <a:path w="4566177" h="177979">
                  <a:moveTo>
                    <a:pt x="0" y="0"/>
                  </a:moveTo>
                  <a:lnTo>
                    <a:pt x="4566177" y="0"/>
                  </a:lnTo>
                  <a:lnTo>
                    <a:pt x="4566177" y="177979"/>
                  </a:lnTo>
                  <a:lnTo>
                    <a:pt x="0" y="177979"/>
                  </a:lnTo>
                  <a:close/>
                </a:path>
              </a:pathLst>
            </a:custGeom>
            <a:solidFill>
              <a:srgbClr val="044397"/>
            </a:solidFill>
          </p:spPr>
          <p:txBody>
            <a:bodyPr/>
            <a:lstStyle/>
            <a:p>
              <a:endParaRPr lang="en-B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566177" cy="197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198087" y="6147914"/>
            <a:ext cx="12951474" cy="4139086"/>
          </a:xfrm>
          <a:custGeom>
            <a:avLst/>
            <a:gdLst/>
            <a:ahLst/>
            <a:cxnLst/>
            <a:rect l="l" t="t" r="r" b="b"/>
            <a:pathLst>
              <a:path w="12951474" h="4139086">
                <a:moveTo>
                  <a:pt x="0" y="0"/>
                </a:moveTo>
                <a:lnTo>
                  <a:pt x="12951474" y="0"/>
                </a:lnTo>
                <a:lnTo>
                  <a:pt x="12951474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301" b="-7301"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7" name="TextBox 7"/>
          <p:cNvSpPr txBox="1"/>
          <p:nvPr/>
        </p:nvSpPr>
        <p:spPr>
          <a:xfrm>
            <a:off x="5513081" y="-9525"/>
            <a:ext cx="780437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5674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SCRUM EVENTS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1816" y="1331717"/>
            <a:ext cx="508690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F7E8D9"/>
                </a:solidFill>
                <a:latin typeface="Poppins"/>
                <a:ea typeface="Poppins"/>
                <a:cs typeface="Poppins"/>
                <a:sym typeface="Poppins"/>
              </a:rPr>
              <a:t>SPRINT: 1 MONTH OR LESS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7876" y="2054860"/>
            <a:ext cx="4118286" cy="823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Planning - max 8h for a 1-month Sprint: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the entire Scrum Team 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is the Sprint valuable? → Define the Sprint Goal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can be done this Sprint? → Select Product Backlog items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will the work be done? → Create a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2388" y="2073910"/>
            <a:ext cx="3946656" cy="306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Scrum - 15 min: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the developers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Event to inspect progress and adapt plans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15268" y="2076304"/>
            <a:ext cx="4302237" cy="461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Review - max 4h for a 1-month Sprint: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the entire Scrum Team and Stakeholders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Inspect the outcome and adapt the Product Backlog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90553" y="2076304"/>
            <a:ext cx="4087551" cy="512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Retrospective - max 3h for a 1-month Sprint: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Scrum Team 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improvements for the next Sprint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Concluded the Sprint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Freeform 3"/>
          <p:cNvSpPr/>
          <p:nvPr/>
        </p:nvSpPr>
        <p:spPr>
          <a:xfrm>
            <a:off x="537465" y="7881620"/>
            <a:ext cx="1987551" cy="1987551"/>
          </a:xfrm>
          <a:custGeom>
            <a:avLst/>
            <a:gdLst/>
            <a:ahLst/>
            <a:cxnLst/>
            <a:rect l="l" t="t" r="r" b="b"/>
            <a:pathLst>
              <a:path w="1987551" h="1987551">
                <a:moveTo>
                  <a:pt x="0" y="0"/>
                </a:moveTo>
                <a:lnTo>
                  <a:pt x="1987551" y="0"/>
                </a:lnTo>
                <a:lnTo>
                  <a:pt x="1987551" y="1987551"/>
                </a:lnTo>
                <a:lnTo>
                  <a:pt x="0" y="1987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668" t="-15416" r="-32455"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4" name="Freeform 4"/>
          <p:cNvSpPr/>
          <p:nvPr/>
        </p:nvSpPr>
        <p:spPr>
          <a:xfrm>
            <a:off x="3493371" y="702706"/>
            <a:ext cx="11301259" cy="5947288"/>
          </a:xfrm>
          <a:custGeom>
            <a:avLst/>
            <a:gdLst/>
            <a:ahLst/>
            <a:cxnLst/>
            <a:rect l="l" t="t" r="r" b="b"/>
            <a:pathLst>
              <a:path w="11301259" h="5947288">
                <a:moveTo>
                  <a:pt x="0" y="0"/>
                </a:moveTo>
                <a:lnTo>
                  <a:pt x="11301258" y="0"/>
                </a:lnTo>
                <a:lnTo>
                  <a:pt x="11301258" y="5947288"/>
                </a:lnTo>
                <a:lnTo>
                  <a:pt x="0" y="5947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5" name="TextBox 5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3619200"/>
            <a:ext cx="4026266" cy="394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 Backlog: Ordered list of everything needed for the product.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Commitment:</a:t>
            </a: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Product Goal (future state of the product)</a:t>
            </a:r>
            <a:r>
              <a:rPr lang="en-US" sz="2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34046" y="7824470"/>
            <a:ext cx="7819909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Backlog: Selected Product Backlog items and the Sprint plan.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Commitment:</a:t>
            </a: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Sprint Goal (objective for the Sprint).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endParaRPr lang="en-US" sz="28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417454" y="3619200"/>
            <a:ext cx="3870546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Increment: </a:t>
            </a: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usable, potentially shippable piece of the product.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Commitment: </a:t>
            </a:r>
            <a:r>
              <a:rPr lang="en-US" sz="28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Definition of Done (quality standard).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5388750" y="-9525"/>
            <a:ext cx="805303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5674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KEY RULES OF SCRUM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46002" y="2847975"/>
            <a:ext cx="12538532" cy="474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Scrum is immutable: All roles, events, and artifacts must be followed as defined.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Scrum is a framework, not a methodology: It provides structure but allows for flexibility in processes and techniques.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Accountability: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Product Owner for maximizing value.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Scrum Master for Scrum adherence.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 Developers for Increment creation.</a:t>
            </a:r>
          </a:p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endParaRPr lang="en-US" sz="30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  <p:sp>
        <p:nvSpPr>
          <p:cNvPr id="3" name="TextBox 3"/>
          <p:cNvSpPr txBox="1"/>
          <p:nvPr/>
        </p:nvSpPr>
        <p:spPr>
          <a:xfrm>
            <a:off x="3460943" y="-9525"/>
            <a:ext cx="118705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5674">
                <a:solidFill>
                  <a:srgbClr val="044397"/>
                </a:solidFill>
                <a:latin typeface="Open Sauce"/>
                <a:ea typeface="Open Sauce"/>
                <a:cs typeface="Open Sauce"/>
                <a:sym typeface="Open Sauce"/>
              </a:rPr>
              <a:t>PREPARING FOR CERTIFICATION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48775"/>
            <a:ext cx="48816" cy="9906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86303" y="2499559"/>
            <a:ext cx="12219831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STUDY THE SCRUM GUIDE (2020 VERSION).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FOCUS ON: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ROLES AND RESPONSIBILITIES.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EVENTS AND THEIR TIMEBOXING.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ARTIFACTS AND THEIR COMMITMENTS.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PRACTICE SAMPLE QUESTIONS FROM SCRUM.ORG.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 • UNDERSTAND REAL-WORLD APPLICATIONS OF SCRUM PRINCIPLES.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48775"/>
            <a:ext cx="290512" cy="3111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>
                <a:solidFill>
                  <a:srgbClr val="044397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</a:p>
        </p:txBody>
      </p:sp>
      <p:sp>
        <p:nvSpPr>
          <p:cNvPr id="3" name="Freeform 3"/>
          <p:cNvSpPr/>
          <p:nvPr/>
        </p:nvSpPr>
        <p:spPr>
          <a:xfrm>
            <a:off x="152400" y="152400"/>
            <a:ext cx="1074931" cy="1798442"/>
          </a:xfrm>
          <a:custGeom>
            <a:avLst/>
            <a:gdLst/>
            <a:ahLst/>
            <a:cxnLst/>
            <a:rect l="l" t="t" r="r" b="b"/>
            <a:pathLst>
              <a:path w="1074931" h="1798442">
                <a:moveTo>
                  <a:pt x="0" y="0"/>
                </a:moveTo>
                <a:lnTo>
                  <a:pt x="1074931" y="0"/>
                </a:lnTo>
                <a:lnTo>
                  <a:pt x="1074931" y="1798442"/>
                </a:lnTo>
                <a:lnTo>
                  <a:pt x="0" y="1798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B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796</Words>
  <Application>Microsoft Macintosh PowerPoint</Application>
  <PresentationFormat>Custom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Open Sauce</vt:lpstr>
      <vt:lpstr>Calibri</vt:lpstr>
      <vt:lpstr>Poppins</vt:lpstr>
      <vt:lpstr>Canva Sans</vt:lpstr>
      <vt:lpstr>Open Sans Bold</vt:lpstr>
      <vt:lpstr>Arial</vt:lpstr>
      <vt:lpstr>Open Sans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Master</dc:title>
  <cp:lastModifiedBy>Stéphanie Decloedt</cp:lastModifiedBy>
  <cp:revision>3</cp:revision>
  <dcterms:created xsi:type="dcterms:W3CDTF">2006-08-16T00:00:00Z</dcterms:created>
  <dcterms:modified xsi:type="dcterms:W3CDTF">2024-11-28T06:02:40Z</dcterms:modified>
  <dc:identifier>DAGXlozLSJY</dc:identifier>
</cp:coreProperties>
</file>